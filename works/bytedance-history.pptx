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1FC8C3">
                <a:alpha val="78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4F6FB"/>
                    </a:solidFill>
                    <a:latin typeface="Bahnschrif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 目标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1200</c:v>
                </c:pt>
                <c:pt idx="2">
                  <c:v>1550</c:v>
                </c:pt>
                <c:pt idx="3">
                  <c:v>1860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4F6FB"/>
                  </a:solidFill>
                  <a:latin typeface="Bahnschrif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AFC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1"/>
        <c:axPos val="l"/>
        <c:majorGridlines>
          <c:spPr>
            <a:ln w="6350" cap="flat">
              <a:solidFill>
                <a:srgbClr val="262B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字节跳动 2012 年 3 月由张一鸣在北京创立，同年 8 月上线今日头条，以个性化推荐起家。2016 年抖音上线，2017 年收购 Musical.ly 并与 TikTok 合并，进入全球化阶段；2019 年起通过飞书、火山引擎拓展企业服务，2021 年梁汝波接任 CEO，TikTok 月活突破 10 亿。2023 年推出豆包，2024 年发布豆包大模型并大幅降价，进入 AI 新周期；2026 年 1 月 TikTok 美国合资公司完成交割。营收从 2022 年约 800 亿美元增长到 2024 年约 1550 亿美元。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-image-1.jpe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BYTEDANCE  ·  2012 —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字节跳动发展史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推荐算法驱动的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5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「App 工厂」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从一款资讯应用起步，十四年长成覆盖全球的科技公司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0" y="475488"/>
            <a:ext cx="1316736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53912" y="640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1550</a:t>
            </a:r>
            <a:pPr indent="0" marL="0">
              <a:buNone/>
            </a:pPr>
            <a:r>
              <a:rPr lang="en-US" sz="1300" b="1" dirty="0">
                <a:solidFill>
                  <a:srgbClr val="25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53912" y="124358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年营收 · 美元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34072" y="475488"/>
            <a:ext cx="1316736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98664" y="640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万+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598664" y="124358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全球员工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878824" y="475488"/>
            <a:ext cx="1316736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43416" y="640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pPr indent="0" marL="0">
              <a:buNone/>
            </a:pPr>
            <a:r>
              <a:rPr lang="en-US" sz="1300" b="1" dirty="0">
                <a:solidFill>
                  <a:srgbClr val="A9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亿+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43416" y="124358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全球月活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323576" y="475488"/>
            <a:ext cx="1316736" cy="1298448"/>
          </a:xfrm>
          <a:prstGeom prst="roundRect">
            <a:avLst>
              <a:gd name="adj" fmla="val 70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88168" y="640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FE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0488168" y="124358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豆包月活（2026）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107131"/>
            <a:ext cx="2276399" cy="4023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011680"/>
            <a:ext cx="227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8C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资讯分发   </a:t>
            </a:r>
            <a:pPr indent="0" marL="0">
              <a:buNone/>
            </a:pPr>
            <a:r>
              <a:rPr lang="en-US" sz="950" dirty="0">
                <a:solidFill>
                  <a:srgbClr val="69718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2012—2015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79903" y="3107131"/>
            <a:ext cx="1797710" cy="40234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79903" y="2011680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F4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短视频爆发   </a:t>
            </a:r>
            <a:pPr indent="0" marL="0">
              <a:buNone/>
            </a:pPr>
            <a:r>
              <a:rPr lang="en-US" sz="950" dirty="0">
                <a:solidFill>
                  <a:srgbClr val="69718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2016—2018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2477" y="3107131"/>
            <a:ext cx="3650285" cy="40234"/>
          </a:xfrm>
          <a:prstGeom prst="rect">
            <a:avLst/>
          </a:prstGeom>
          <a:solidFill>
            <a:srgbClr val="A98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2477" y="2011680"/>
            <a:ext cx="36502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 · 企业服务   </a:t>
            </a:r>
            <a:pPr indent="0" marL="0">
              <a:buNone/>
            </a:pPr>
            <a:r>
              <a:rPr lang="en-US" sz="950" dirty="0">
                <a:solidFill>
                  <a:srgbClr val="69718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2019—2022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37626" y="3107131"/>
            <a:ext cx="3092958" cy="40234"/>
          </a:xfrm>
          <a:prstGeom prst="rect">
            <a:avLst/>
          </a:prstGeom>
          <a:solidFill>
            <a:srgbClr val="FE2C5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37626" y="2011680"/>
            <a:ext cx="3092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E2C5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新周期   </a:t>
            </a:r>
            <a:pPr indent="0" marL="0">
              <a:buNone/>
            </a:pPr>
            <a:r>
              <a:rPr lang="en-US" sz="950" dirty="0">
                <a:solidFill>
                  <a:srgbClr val="69718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2023—2026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5400000">
            <a:off x="11530584" y="3063240"/>
            <a:ext cx="128016" cy="128016"/>
          </a:xfrm>
          <a:prstGeom prst="triangle">
            <a:avLst/>
          </a:prstGeom>
          <a:solidFill>
            <a:srgbClr val="FE2C55"/>
          </a:solidFill>
          <a:ln/>
        </p:spPr>
      </p:sp>
      <p:sp>
        <p:nvSpPr>
          <p:cNvPr id="26" name="Shape 24"/>
          <p:cNvSpPr/>
          <p:nvPr/>
        </p:nvSpPr>
        <p:spPr>
          <a:xfrm>
            <a:off x="1463040" y="2871216"/>
            <a:ext cx="0" cy="164592"/>
          </a:xfrm>
          <a:prstGeom prst="line">
            <a:avLst/>
          </a:prstGeom>
          <a:noFill/>
          <a:ln w="9525">
            <a:solidFill>
              <a:srgbClr val="5B8CFF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5316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5B8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B8C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2012.03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张一鸣在北京创立字节跳动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89327" y="3218688"/>
            <a:ext cx="0" cy="182880"/>
          </a:xfrm>
          <a:prstGeom prst="line">
            <a:avLst/>
          </a:prstGeom>
          <a:noFill/>
          <a:ln w="9525">
            <a:solidFill>
              <a:srgbClr val="5B8C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1603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5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02359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B8C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2012.08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今日头条上线，个性化推荐起家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15614" y="2871216"/>
            <a:ext cx="0" cy="164592"/>
          </a:xfrm>
          <a:prstGeom prst="line">
            <a:avLst/>
          </a:prstGeom>
          <a:noFill/>
          <a:ln w="9525">
            <a:solidFill>
              <a:srgbClr val="25F4EE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7890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25F4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28646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5F4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2016.09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抖音上线，一年用户破亿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41902" y="3218688"/>
            <a:ext cx="0" cy="182880"/>
          </a:xfrm>
          <a:prstGeom prst="line">
            <a:avLst/>
          </a:prstGeom>
          <a:noFill/>
          <a:ln w="9525">
            <a:solidFill>
              <a:srgbClr val="25F4EE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4178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25F4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54934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5F4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2017.11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 亿美元收购 Musical.ly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68189" y="2871216"/>
            <a:ext cx="0" cy="164592"/>
          </a:xfrm>
          <a:prstGeom prst="line">
            <a:avLst/>
          </a:prstGeom>
          <a:noFill/>
          <a:ln w="9525">
            <a:solidFill>
              <a:srgbClr val="A98BFF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90465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A98B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81221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98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2019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/ Lark 发布，进军企业协作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4476" y="3218688"/>
            <a:ext cx="0" cy="182880"/>
          </a:xfrm>
          <a:prstGeom prst="line">
            <a:avLst/>
          </a:prstGeom>
          <a:noFill/>
          <a:ln w="9525">
            <a:solidFill>
              <a:srgbClr val="A98BFF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6752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A98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07508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98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2020.06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火山引擎上线，技术对外输出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20763" y="2871216"/>
            <a:ext cx="0" cy="164592"/>
          </a:xfrm>
          <a:prstGeom prst="line">
            <a:avLst/>
          </a:prstGeom>
          <a:noFill/>
          <a:ln w="9525">
            <a:solidFill>
              <a:srgbClr val="A98BFF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3039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A98B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33795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98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2021.05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宣布梁汝波接任 CEO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947050" y="3218688"/>
            <a:ext cx="0" cy="182880"/>
          </a:xfrm>
          <a:prstGeom prst="line">
            <a:avLst/>
          </a:prstGeom>
          <a:noFill/>
          <a:ln w="9525">
            <a:solidFill>
              <a:srgbClr val="A98BFF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9326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A98B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060082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98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2021.09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全球月活突破 10 亿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73338" y="2871216"/>
            <a:ext cx="0" cy="164592"/>
          </a:xfrm>
          <a:prstGeom prst="line">
            <a:avLst/>
          </a:prstGeom>
          <a:noFill/>
          <a:ln w="9525">
            <a:solidFill>
              <a:srgbClr val="FE2C55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95614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FE2C5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86370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E2C5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2023.08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助手「豆包」上线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799625" y="3218688"/>
            <a:ext cx="0" cy="182880"/>
          </a:xfrm>
          <a:prstGeom prst="line">
            <a:avLst/>
          </a:prstGeom>
          <a:noFill/>
          <a:ln w="9525">
            <a:solidFill>
              <a:srgbClr val="FE2C55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21901" y="3049524"/>
            <a:ext cx="155448" cy="155448"/>
          </a:xfrm>
          <a:prstGeom prst="ellipse">
            <a:avLst/>
          </a:prstGeom>
          <a:solidFill>
            <a:srgbClr val="0B0D16"/>
          </a:solidFill>
          <a:ln w="22225">
            <a:solidFill>
              <a:srgbClr val="FE2C5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12657" y="3419856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E2C5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2024.05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豆包大模型发布，价格降至 0.0008 元/千 tokens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725912" y="2871216"/>
            <a:ext cx="0" cy="164592"/>
          </a:xfrm>
          <a:prstGeom prst="line">
            <a:avLst/>
          </a:prstGeom>
          <a:noFill/>
          <a:ln w="9525">
            <a:solidFill>
              <a:srgbClr val="FE2C55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48188" y="3049524"/>
            <a:ext cx="155448" cy="155448"/>
          </a:xfrm>
          <a:prstGeom prst="ellipse">
            <a:avLst/>
          </a:prstGeom>
          <a:solidFill>
            <a:srgbClr val="FE2C55"/>
          </a:solidFill>
          <a:ln w="22225">
            <a:solidFill>
              <a:srgbClr val="FE2C55"/>
            </a:solidFill>
            <a:prstDash val="solid"/>
          </a:ln>
          <a:effectLst>
            <a:outerShdw sx="100000" sy="100000" kx="0" ky="0" algn="bl" rotWithShape="0" blurRad="152400" dist="50800" dir="5400000">
              <a:srgbClr val="FE2C55">
                <a:alpha val="80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9838944" y="2267712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E2C5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2026.01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美国合资公司交割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4261104"/>
            <a:ext cx="4754880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7240" y="4407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营收规模</a:t>
            </a:r>
            <a:pPr indent="0" marL="0">
              <a:buNone/>
            </a:pPr>
            <a:r>
              <a:rPr lang="en-US" sz="900" dirty="0">
                <a:solidFill>
                  <a:srgbClr val="697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单位：亿美元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3291840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2022→2024 增长约 94%</a:t>
            </a:r>
            <a:endParaRPr lang="en-US" sz="95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658368" y="4718304"/>
          <a:ext cx="452628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3" name="Shape 60"/>
          <p:cNvSpPr/>
          <p:nvPr/>
        </p:nvSpPr>
        <p:spPr>
          <a:xfrm>
            <a:off x="5486400" y="4261104"/>
            <a:ext cx="6153912" cy="1810512"/>
          </a:xfrm>
          <a:prstGeom prst="roundRect">
            <a:avLst>
              <a:gd name="adj" fmla="val 505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715000" y="4407408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四大业务版图</a:t>
            </a:r>
            <a:pPr indent="0" marL="0">
              <a:buNone/>
            </a:pPr>
            <a:r>
              <a:rPr lang="en-US" sz="900" dirty="0">
                <a:solidFill>
                  <a:srgbClr val="697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同一套推荐与数据能力，复用到每条业务线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5715000" y="4846320"/>
            <a:ext cx="457200" cy="457200"/>
          </a:xfrm>
          <a:prstGeom prst="ellipse">
            <a:avLst/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60000"/>
              </a:srgbClr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4974336"/>
            <a:ext cx="201168" cy="201168"/>
          </a:xfrm>
          <a:prstGeom prst="rect">
            <a:avLst/>
          </a:prstGeom>
        </p:spPr>
      </p:pic>
      <p:sp>
        <p:nvSpPr>
          <p:cNvPr id="67" name="Text 63"/>
          <p:cNvSpPr txBox="1"/>
          <p:nvPr/>
        </p:nvSpPr>
        <p:spPr>
          <a:xfrm>
            <a:off x="5715000" y="5394960"/>
            <a:ext cx="128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资讯内容</a:t>
            </a:r>
            <a:endParaRPr lang="en-US" sz="1150" dirty="0"/>
          </a:p>
        </p:txBody>
      </p:sp>
      <p:sp>
        <p:nvSpPr>
          <p:cNvPr id="68" name="Text 64"/>
          <p:cNvSpPr txBox="1"/>
          <p:nvPr/>
        </p:nvSpPr>
        <p:spPr>
          <a:xfrm>
            <a:off x="5715000" y="5669280"/>
            <a:ext cx="1287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今日头条 · 西瓜视频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7184898" y="4846320"/>
            <a:ext cx="457200" cy="457200"/>
          </a:xfrm>
          <a:prstGeom prst="ellipse">
            <a:avLst/>
          </a:prstGeom>
          <a:solidFill>
            <a:srgbClr val="25F4EE">
              <a:alpha val="16000"/>
            </a:srgbClr>
          </a:solidFill>
          <a:ln w="12700">
            <a:solidFill>
              <a:srgbClr val="25F4EE">
                <a:alpha val="60000"/>
              </a:srgbClr>
            </a:solidFill>
            <a:prstDash val="solid"/>
          </a:ln>
        </p:spPr>
      </p:sp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14" y="4974336"/>
            <a:ext cx="201168" cy="201168"/>
          </a:xfrm>
          <a:prstGeom prst="rect">
            <a:avLst/>
          </a:prstGeom>
        </p:spPr>
      </p:pic>
      <p:sp>
        <p:nvSpPr>
          <p:cNvPr id="71" name="Text 66"/>
          <p:cNvSpPr txBox="1"/>
          <p:nvPr/>
        </p:nvSpPr>
        <p:spPr>
          <a:xfrm>
            <a:off x="7184898" y="5394960"/>
            <a:ext cx="128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短视频与电商</a:t>
            </a:r>
            <a:endParaRPr lang="en-US" sz="1150" dirty="0"/>
          </a:p>
        </p:txBody>
      </p:sp>
      <p:sp>
        <p:nvSpPr>
          <p:cNvPr id="72" name="Text 67"/>
          <p:cNvSpPr txBox="1"/>
          <p:nvPr/>
        </p:nvSpPr>
        <p:spPr>
          <a:xfrm>
            <a:off x="7184898" y="5669280"/>
            <a:ext cx="1287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 · TikTok · 抖音电商</a:t>
            </a:r>
            <a:endParaRPr lang="en-US" sz="900" dirty="0"/>
          </a:p>
        </p:txBody>
      </p:sp>
      <p:sp>
        <p:nvSpPr>
          <p:cNvPr id="73" name="Shape 68"/>
          <p:cNvSpPr/>
          <p:nvPr/>
        </p:nvSpPr>
        <p:spPr>
          <a:xfrm>
            <a:off x="8654796" y="4846320"/>
            <a:ext cx="457200" cy="457200"/>
          </a:xfrm>
          <a:prstGeom prst="ellipse">
            <a:avLst/>
          </a:prstGeom>
          <a:solidFill>
            <a:srgbClr val="A98BFF">
              <a:alpha val="16000"/>
            </a:srgbClr>
          </a:solidFill>
          <a:ln w="12700">
            <a:solidFill>
              <a:srgbClr val="A98BFF">
                <a:alpha val="60000"/>
              </a:srgbClr>
            </a:solidFill>
            <a:prstDash val="solid"/>
          </a:ln>
        </p:spPr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12" y="4974336"/>
            <a:ext cx="201168" cy="201168"/>
          </a:xfrm>
          <a:prstGeom prst="rect">
            <a:avLst/>
          </a:prstGeom>
        </p:spPr>
      </p:pic>
      <p:sp>
        <p:nvSpPr>
          <p:cNvPr id="75" name="Text 69"/>
          <p:cNvSpPr txBox="1"/>
          <p:nvPr/>
        </p:nvSpPr>
        <p:spPr>
          <a:xfrm>
            <a:off x="8654796" y="5394960"/>
            <a:ext cx="128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</a:t>
            </a:r>
            <a:endParaRPr lang="en-US" sz="1150" dirty="0"/>
          </a:p>
        </p:txBody>
      </p:sp>
      <p:sp>
        <p:nvSpPr>
          <p:cNvPr id="76" name="Text 70"/>
          <p:cNvSpPr txBox="1"/>
          <p:nvPr/>
        </p:nvSpPr>
        <p:spPr>
          <a:xfrm>
            <a:off x="8654796" y="5669280"/>
            <a:ext cx="1287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· 巨量引擎</a:t>
            </a:r>
            <a:endParaRPr lang="en-US" sz="900" dirty="0"/>
          </a:p>
        </p:txBody>
      </p:sp>
      <p:sp>
        <p:nvSpPr>
          <p:cNvPr id="77" name="Shape 71"/>
          <p:cNvSpPr/>
          <p:nvPr/>
        </p:nvSpPr>
        <p:spPr>
          <a:xfrm>
            <a:off x="10124694" y="4846320"/>
            <a:ext cx="457200" cy="457200"/>
          </a:xfrm>
          <a:prstGeom prst="ellipse">
            <a:avLst/>
          </a:prstGeom>
          <a:solidFill>
            <a:srgbClr val="FE2C55">
              <a:alpha val="16000"/>
            </a:srgbClr>
          </a:solidFill>
          <a:ln w="12700">
            <a:solidFill>
              <a:srgbClr val="FE2C55">
                <a:alpha val="60000"/>
              </a:srgbClr>
            </a:solidFill>
            <a:prstDash val="solid"/>
          </a:ln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2710" y="4974336"/>
            <a:ext cx="201168" cy="201168"/>
          </a:xfrm>
          <a:prstGeom prst="rect">
            <a:avLst/>
          </a:prstGeom>
        </p:spPr>
      </p:pic>
      <p:sp>
        <p:nvSpPr>
          <p:cNvPr id="79" name="Text 72"/>
          <p:cNvSpPr txBox="1"/>
          <p:nvPr/>
        </p:nvSpPr>
        <p:spPr>
          <a:xfrm>
            <a:off x="10124694" y="5394960"/>
            <a:ext cx="128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云与 AI</a:t>
            </a:r>
            <a:endParaRPr lang="en-US" sz="1150" dirty="0"/>
          </a:p>
        </p:txBody>
      </p:sp>
      <p:sp>
        <p:nvSpPr>
          <p:cNvPr id="80" name="Text 73"/>
          <p:cNvSpPr txBox="1"/>
          <p:nvPr/>
        </p:nvSpPr>
        <p:spPr>
          <a:xfrm>
            <a:off x="10124694" y="5669280"/>
            <a:ext cx="1287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A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 · 豆包大模型</a:t>
            </a:r>
            <a:endParaRPr lang="en-US" sz="900" dirty="0"/>
          </a:p>
        </p:txBody>
      </p:sp>
      <p:sp>
        <p:nvSpPr>
          <p:cNvPr id="81" name="Text 74"/>
          <p:cNvSpPr txBox="1"/>
          <p:nvPr/>
        </p:nvSpPr>
        <p:spPr>
          <a:xfrm>
            <a:off x="548640" y="62544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1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资料来源：字节跳动官网；Bloomberg、CNBC、CNN、36氪等公开报道。营收为媒体披露的约数，2025 为公司目标值。</a:t>
            </a:r>
            <a:endParaRPr lang="en-US" sz="800" dirty="0"/>
          </a:p>
        </p:txBody>
      </p:sp>
      <p:sp>
        <p:nvSpPr>
          <p:cNvPr id="82" name="Text 75"/>
          <p:cNvSpPr txBox="1"/>
          <p:nvPr/>
        </p:nvSpPr>
        <p:spPr>
          <a:xfrm>
            <a:off x="9354312" y="6254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9718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WZQ  ·  演示设计 01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字节跳动发展史</dc:title>
  <dc:subject>PptxGenJS Presentation</dc:subject>
  <dc:creator>伍梓侨</dc:creator>
  <cp:lastModifiedBy>伍梓侨</cp:lastModifiedBy>
  <cp:revision>1</cp:revision>
  <dcterms:created xsi:type="dcterms:W3CDTF">2026-09-16T14:50:55Z</dcterms:created>
  <dcterms:modified xsi:type="dcterms:W3CDTF">2026-09-16T14:50:55Z</dcterms:modified>
</cp:coreProperties>
</file>